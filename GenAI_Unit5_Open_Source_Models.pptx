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faaa1254-0718-0202-b7a0-ec90c53062df}">
          <p14:sldIdLst>
            <p14:sldId id="257"/>
          </p14:sldIdLst>
        </p14:section>
        <p14:section name="Training &amp; Fine-tuning" id="{31d0d45e-5f2f-cc28-961e-b191757e3b5c}">
          <p14:sldIdLst>
            <p14:sldId id="258"/>
            <p14:sldId id="259"/>
          </p14:sldIdLst>
        </p14:section>
        <p14:section name="GPT4All" id="{ca10ba5a-1445-5307-f0cc-cac1a4b89b0e}">
          <p14:sldIdLst>
            <p14:sldId id="260"/>
            <p14:sldId id="261"/>
          </p14:sldIdLst>
        </p14:section>
        <p14:section name="Transfer Learning" id="{b64845fa-59cf-277f-8639-eb883e5ead45}">
          <p14:sldIdLst>
            <p14:sldId id="262"/>
            <p14:sldId id="263"/>
          </p14:sldIdLst>
        </p14:section>
        <p14:section name="Training Vision Models" id="{cce03f9f-1150-f45e-be41-89e9ab0d5676}">
          <p14:sldIdLst>
            <p14:sldId id="264"/>
            <p14:sldId id="265"/>
          </p14:sldIdLst>
        </p14:section>
        <p14:section name="Google Copilot" id="{398259b8-9042-3299-75d3-aab21ce0af1c}">
          <p14:sldIdLst>
            <p14:sldId id="266"/>
            <p14:sldId id="267"/>
          </p14:sldIdLst>
        </p14:section>
        <p14:section name="Programming LLMs" id="{da78b043-1fad-2a30-5a25-20add71c2a3c}">
          <p14:sldIdLst>
            <p14:sldId id="268"/>
            <p14:sldId id="269"/>
          </p14:sldIdLst>
        </p14:section>
        <p14:section name="LangChain" id="{23ef0c87-7380-74e2-522f-b51ac147ad6a}">
          <p14:sldIdLst>
            <p14:sldId id="270"/>
            <p14:sldId id="271"/>
            <p14:sldId id="272"/>
          </p14:sldIdLst>
        </p14:section>
        <p14:section name="Open Source Models" id="{f748a5d5-0754-ce8c-5f87-af80c2ddee20}">
          <p14:sldIdLst>
            <p14:sldId id="273"/>
            <p14:sldId id="274"/>
          </p14:sldIdLst>
        </p14:section>
        <p14:section name="Llama" id="{266c8769-290e-f51b-4adb-2e69aca5e319}">
          <p14:sldIdLst>
            <p14:sldId id="275"/>
            <p14:sldId id="276"/>
          </p14:sldIdLst>
        </p14:section>
        <p14:section name="Programming for TimeSformer" id="{f01d039d-2157-e764-2724-38eccd64882c}">
          <p14:sldIdLst>
            <p14:sldId id="277"/>
            <p14:sldId id="278"/>
            <p14:sldId id="279"/>
          </p14:sldIdLst>
        </p14:section>
        <p14:section name="Deployment" id="{4be18707-86c6-b2ab-8534-2f2b134f189a}">
          <p14:sldIdLst>
            <p14:sldId id="280"/>
            <p14:sldId id="281"/>
            <p14:sldId id="282"/>
            <p14:sldId id="283"/>
          </p14:sldIdLst>
        </p14:section>
        <p14:section name="Hugging Face" id="{974fe648-f538-243a-fa29-d3f4f13bcdad}">
          <p14:sldIdLst>
            <p14:sldId id="284"/>
            <p14:sldId id="285"/>
          </p14:sldIdLst>
        </p14:section>
        <p14:section name="Summary" id="{9b01319b-3011-82d6-41c4-c698a1e2d35c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9144"/>
          </a:xfrm>
          <a:prstGeom prst="rect">
            <a:avLst/>
          </a:prstGeom>
          <a:solidFill>
            <a:srgbClr val="D5DDE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Generative AI  |  Unit V: Open Source Models  |  CMR Technical Campus</a:t>
            </a:r>
            <a:endParaRPr lang="en-US" sz="85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1005840"/>
            <a:ext cx="74980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1965960"/>
            <a:ext cx="74980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10058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Generative AI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19659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Unit V: Open Source Models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7432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3E0"/>
                </a:solidFill>
              </a:rPr>
              <a:t>Training &amp; fine-tuning  |  GPT4All  |  Transfer learning  |  Vision models  |  Google Copilot  |  Programming LLMs  |  LangChain  |  Llama  |  TimeSformer  |  Deployment  |  Hugging Face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49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Mr. M. Balaji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Assistant Professor, Department of CSE (AI&amp;ML)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CMR Technical Campus [Autonomous], Hyderabad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Unit V Syllabus Roadmap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1280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chemeClr val="tx1"/>
                </a:solidFill>
              </a:rPr>
              <a:t>Open Source Models: Training and fine-tuning of generative models, GPT4All, transfer learning and pretrained models, training vision models, Google Copilot, programming LLMs, LangChain, open source models, Llama, programming for TimeSformer, deployment, Hugging Face.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920240" cy="74980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64008" cy="7498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783080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1783080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Training &amp; Fine-tuning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783080"/>
            <a:ext cx="1920240" cy="74980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1783080"/>
            <a:ext cx="64008" cy="74980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24912" y="1783080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127248" y="1783080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GPT4All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1920240" cy="74980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783080"/>
            <a:ext cx="64008" cy="74980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28032" y="1783080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230368" y="1783080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Transfer Learning &amp; Pretrained Models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1783080"/>
            <a:ext cx="1920240" cy="74980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0" y="1783080"/>
            <a:ext cx="64008" cy="74980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31152" y="1783080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333488" y="1783080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Training Vision Models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670048"/>
            <a:ext cx="1920240" cy="74980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670048"/>
            <a:ext cx="64008" cy="749808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" y="2670048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024128" y="2670048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Google Copilot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60320" y="2670048"/>
            <a:ext cx="1920240" cy="74980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0" y="2670048"/>
            <a:ext cx="64008" cy="749808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724912" y="2670048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06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3127248" y="2670048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Programming LLMs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2670048"/>
            <a:ext cx="1920240" cy="74980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2670048"/>
            <a:ext cx="64008" cy="7498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28032" y="2670048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07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5230368" y="2670048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LangChain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66560" y="2670048"/>
            <a:ext cx="1920240" cy="74980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6560" y="2670048"/>
            <a:ext cx="64008" cy="74980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931152" y="2670048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08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7333488" y="2670048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Open Source Models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3557016"/>
            <a:ext cx="1920240" cy="74980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3557016"/>
            <a:ext cx="64008" cy="74980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21792" y="3557016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09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1024128" y="3557016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Llama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560320" y="3557016"/>
            <a:ext cx="1920240" cy="74980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60320" y="3557016"/>
            <a:ext cx="64008" cy="74980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724912" y="3557016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10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3127248" y="3557016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Programming for TimeSformer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663440" y="3557016"/>
            <a:ext cx="1920240" cy="74980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63440" y="3557016"/>
            <a:ext cx="64008" cy="749808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828032" y="3557016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11</a:t>
            </a:r>
            <a:endParaRPr lang="en-US" sz="1600" dirty="0"/>
          </a:p>
        </p:txBody>
      </p:sp>
      <p:sp>
        <p:nvSpPr>
          <p:cNvPr id="48" name="Text 46"/>
          <p:cNvSpPr txBox="1"/>
          <p:nvPr/>
        </p:nvSpPr>
        <p:spPr>
          <a:xfrm>
            <a:off x="5230368" y="3557016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Deployment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766560" y="3557016"/>
            <a:ext cx="1920240" cy="74980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66560" y="3557016"/>
            <a:ext cx="64008" cy="749808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931152" y="3557016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12</a:t>
            </a:r>
            <a:endParaRPr lang="en-US" sz="1600" dirty="0"/>
          </a:p>
        </p:txBody>
      </p:sp>
      <p:sp>
        <p:nvSpPr>
          <p:cNvPr id="52" name="Text 50"/>
          <p:cNvSpPr txBox="1"/>
          <p:nvPr/>
        </p:nvSpPr>
        <p:spPr>
          <a:xfrm>
            <a:off x="7333488" y="3557016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Hugging Face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Training vs Fine-tuning Generative Models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1280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</a:rPr>
              <a:t>TRAINING &amp; FINE-TUNING</a:t>
            </a:r>
            <a:endParaRPr lang="en-US" sz="800" dirty="0"/>
          </a:p>
        </p:txBody>
      </p:sp>
      <p:sp>
        <p:nvSpPr>
          <p:cNvPr id="4" name="Card Training a generative model"/>
          <p:cNvSpPr/>
          <p:nvPr/>
        </p:nvSpPr>
        <p:spPr>
          <a:xfrm>
            <a:off x="457200" y="1051560"/>
            <a:ext cx="4032504" cy="2880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64008" cy="28803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43000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Training a generative model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3040"/>
            <a:ext cx="373989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chemeClr val="tx1"/>
                </a:solidFill>
              </a:rPr>
              <a:t>Unsupervised learning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: learns from vast unlabeled data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chemeClr val="tx1"/>
                </a:solidFill>
              </a:rPr>
              <a:t>Pattern recognition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: learns the underlying data distribution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chemeClr val="tx1"/>
                </a:solidFill>
              </a:rPr>
              <a:t>General purpose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: produces a "foundation model", a generalist with no deep expertise in any one area</a:t>
            </a:r>
            <a:endParaRPr lang="en-US" sz="1150" dirty="0"/>
          </a:p>
        </p:txBody>
      </p:sp>
      <p:sp>
        <p:nvSpPr>
          <p:cNvPr id="8" name="Card Fine-tuning a generative model"/>
          <p:cNvSpPr/>
          <p:nvPr/>
        </p:nvSpPr>
        <p:spPr>
          <a:xfrm>
            <a:off x="4654296" y="1051560"/>
            <a:ext cx="4032504" cy="2880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54296" y="1051560"/>
            <a:ext cx="64008" cy="28803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37176" y="1143000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Fine-tuning a generative model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837176" y="1463040"/>
            <a:ext cx="373989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Starts from a pre-trained model that already has general knowledge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Trains further on a smaller, task-specific dataset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Adapts to domain nuances such as industry jargon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Cheaper and faster than training from scratch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Fine-tuning needs careful data preparation, model evaluation and training-parameter management to avoid overfitting.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Example Fine-tuning Workflows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1280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</a:rPr>
              <a:t>TRAINING &amp; FINE-TUNING</a:t>
            </a:r>
            <a:endParaRPr lang="en-US" sz="800" dirty="0"/>
          </a:p>
        </p:txBody>
      </p:sp>
      <p:sp>
        <p:nvSpPr>
          <p:cNvPr id="4" name="Card A. GAN training"/>
          <p:cNvSpPr/>
          <p:nvPr/>
        </p:nvSpPr>
        <p:spPr>
          <a:xfrm>
            <a:off x="457200" y="1051560"/>
            <a:ext cx="4032504" cy="1700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64008" cy="170078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43000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A. GAN training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3040"/>
            <a:ext cx="37398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Train generator and discriminator alternately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Adversarial loss + gradient penalty for stability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Fine-tune on a small domain set (e.g. painting style)</a:t>
            </a:r>
            <a:endParaRPr lang="en-US" sz="1150" dirty="0"/>
          </a:p>
        </p:txBody>
      </p:sp>
      <p:sp>
        <p:nvSpPr>
          <p:cNvPr id="8" name="Card B. VAE fine-tuning"/>
          <p:cNvSpPr/>
          <p:nvPr/>
        </p:nvSpPr>
        <p:spPr>
          <a:xfrm>
            <a:off x="4654296" y="1051560"/>
            <a:ext cx="4032504" cy="1700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54296" y="1051560"/>
            <a:ext cx="64008" cy="170078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37176" y="1143000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B. VAE fine-tuning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837176" y="1463040"/>
            <a:ext cx="37398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Start from a pre-trained encoder-decoder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Fine-tune the decoder for a specific output (faces, digits)</a:t>
            </a:r>
            <a:endParaRPr lang="en-US" sz="1150" dirty="0"/>
          </a:p>
        </p:txBody>
      </p:sp>
      <p:sp>
        <p:nvSpPr>
          <p:cNvPr id="12" name="Card C. Transformer fine-tuning"/>
          <p:cNvSpPr/>
          <p:nvPr/>
        </p:nvSpPr>
        <p:spPr>
          <a:xfrm>
            <a:off x="457200" y="2916936"/>
            <a:ext cx="4032504" cy="1700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916936"/>
            <a:ext cx="64008" cy="170078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008376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C. Transformer fine-tuning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328416"/>
            <a:ext cx="37398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Example: GPT-2 for poetry generation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Load pre-trained weights, add domain text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Cross-entropy loss with a low learning rate</a:t>
            </a:r>
            <a:endParaRPr lang="en-US" sz="1150" dirty="0"/>
          </a:p>
        </p:txBody>
      </p:sp>
      <p:sp>
        <p:nvSpPr>
          <p:cNvPr id="16" name="Card D. Diffusion fine-tuning"/>
          <p:cNvSpPr/>
          <p:nvPr/>
        </p:nvSpPr>
        <p:spPr>
          <a:xfrm>
            <a:off x="4654296" y="2916936"/>
            <a:ext cx="4032504" cy="1700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54296" y="2916936"/>
            <a:ext cx="64008" cy="170078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37176" y="3008376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D. Diffusion fine-tuning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837176" y="3328416"/>
            <a:ext cx="37398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DreamBooth or LoRA on Stable Diffusion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Personalise with a handful of custom images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GPT4All: Local, Private LLMs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1280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</a:rPr>
              <a:t>GPT4ALL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Open-source ecosystem by Nomic AI to run LLMs locally on CPU or GPU, offline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Platform + model hub + local inference engine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Alternative to cloud models such as ChatGPT / GPT-4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Privacy first: all processing stays on your device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Supported models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: LLaMA, LLaMA-2, Mistral, Falcon, GPT-J, Dolly, Replit Code, Phi-2</a:t>
            </a:r>
            <a:endParaRPr lang="en-US" sz="1200" dirty="0"/>
          </a:p>
        </p:txBody>
      </p:sp>
      <p:sp>
        <p:nvSpPr>
          <p:cNvPr id="5" name="Card Frontend"/>
          <p:cNvSpPr/>
          <p:nvPr/>
        </p:nvSpPr>
        <p:spPr>
          <a:xfrm>
            <a:off x="4663440" y="1051560"/>
            <a:ext cx="4023360" cy="7680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1051560"/>
            <a:ext cx="64008" cy="76809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143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Frontend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463040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ChatGPT-like GUI chat interface</a:t>
            </a:r>
            <a:endParaRPr lang="en-US" sz="1050" dirty="0"/>
          </a:p>
        </p:txBody>
      </p:sp>
      <p:sp>
        <p:nvSpPr>
          <p:cNvPr id="9" name="Card Backend (LLM engine)"/>
          <p:cNvSpPr/>
          <p:nvPr/>
        </p:nvSpPr>
        <p:spPr>
          <a:xfrm>
            <a:off x="4663440" y="1984248"/>
            <a:ext cx="4023360" cy="7680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984248"/>
            <a:ext cx="64008" cy="768096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20756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Backend (LLM engine)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395728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Core model that processes input text</a:t>
            </a:r>
            <a:endParaRPr lang="en-US" sz="1050" dirty="0"/>
          </a:p>
        </p:txBody>
      </p:sp>
      <p:sp>
        <p:nvSpPr>
          <p:cNvPr id="13" name="Card Model repository"/>
          <p:cNvSpPr/>
          <p:nvPr/>
        </p:nvSpPr>
        <p:spPr>
          <a:xfrm>
            <a:off x="4663440" y="2916936"/>
            <a:ext cx="4023360" cy="7680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2916936"/>
            <a:ext cx="64008" cy="768096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30083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Model repository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3328416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Downloadable weights hosted by Nomic AI</a:t>
            </a:r>
            <a:endParaRPr lang="en-US" sz="1050" dirty="0"/>
          </a:p>
        </p:txBody>
      </p:sp>
      <p:sp>
        <p:nvSpPr>
          <p:cNvPr id="17" name="Card Database (optional)"/>
          <p:cNvSpPr/>
          <p:nvPr/>
        </p:nvSpPr>
        <p:spPr>
          <a:xfrm>
            <a:off x="4663440" y="3849624"/>
            <a:ext cx="4023360" cy="7680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849624"/>
            <a:ext cx="64008" cy="768096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39410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Database (optional)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4261104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Embeddings, search and RAG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GPT4All: Features, Trade-offs and Use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1280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</a:rPr>
              <a:t>GPT4ALL</a:t>
            </a:r>
            <a:endParaRPr lang="en-US" sz="800" dirty="0"/>
          </a:p>
        </p:txBody>
      </p:sp>
      <p:sp>
        <p:nvSpPr>
          <p:cNvPr id="4" name="Card Key features"/>
          <p:cNvSpPr/>
          <p:nvPr/>
        </p:nvSpPr>
        <p:spPr>
          <a:xfrm>
            <a:off x="457200" y="1051560"/>
            <a:ext cx="1933956" cy="2743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64008" cy="2743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43000"/>
            <a:ext cx="1659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Key features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3040"/>
            <a:ext cx="16413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CPU or GPU; Windows, macOS, Linux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GUI and Python API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Fine-tuning on domain data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Document chat and RAG</a:t>
            </a:r>
            <a:endParaRPr lang="en-US" sz="1000" dirty="0"/>
          </a:p>
        </p:txBody>
      </p:sp>
      <p:sp>
        <p:nvSpPr>
          <p:cNvPr id="8" name="Card Advantages"/>
          <p:cNvSpPr/>
          <p:nvPr/>
        </p:nvSpPr>
        <p:spPr>
          <a:xfrm>
            <a:off x="2555748" y="1051560"/>
            <a:ext cx="1933956" cy="2743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55748" y="1051560"/>
            <a:ext cx="64008" cy="2743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38628" y="1143000"/>
            <a:ext cx="1659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Advantages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738628" y="1463040"/>
            <a:ext cx="16413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Fully offline and private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Free and open-source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Flexible and easy to integrate locally</a:t>
            </a:r>
            <a:endParaRPr lang="en-US" sz="1000" dirty="0"/>
          </a:p>
        </p:txBody>
      </p:sp>
      <p:sp>
        <p:nvSpPr>
          <p:cNvPr id="12" name="Card Limitations"/>
          <p:cNvSpPr/>
          <p:nvPr/>
        </p:nvSpPr>
        <p:spPr>
          <a:xfrm>
            <a:off x="4654296" y="1051560"/>
            <a:ext cx="1933956" cy="2743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54296" y="1051560"/>
            <a:ext cx="64008" cy="27432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37176" y="1143000"/>
            <a:ext cx="1659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Limitations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837176" y="1463040"/>
            <a:ext cx="16413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Lower accuracy than GPT-4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Slower on CPU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Smaller context window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Quality varies by model</a:t>
            </a:r>
            <a:endParaRPr lang="en-US" sz="1000" dirty="0"/>
          </a:p>
        </p:txBody>
      </p:sp>
      <p:sp>
        <p:nvSpPr>
          <p:cNvPr id="16" name="Card Use cases"/>
          <p:cNvSpPr/>
          <p:nvPr/>
        </p:nvSpPr>
        <p:spPr>
          <a:xfrm>
            <a:off x="6752844" y="1051560"/>
            <a:ext cx="1933956" cy="2743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52844" y="1051560"/>
            <a:ext cx="64008" cy="27432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35724" y="1143000"/>
            <a:ext cx="1659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Use cases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935724" y="1463040"/>
            <a:ext cx="16413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Offline chatbots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Coding assistants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Domain AI tutors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Research and education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Fine-tune with LoRA or the GPT4All CLI on instruction-response data.  Install: desktop app at gpt4all.io  |  pip install gpt4all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Transfer Learning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1280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</a:rPr>
              <a:t>TRANSFER LEARNING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model trained on a large dataset for one task is reused as the starting point for a new, related task, especially effective in computer vision and NLP.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961388" cy="1920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66420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664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084832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Start pre-trained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542032"/>
            <a:ext cx="17602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Begin with a model that already learned general features from a massive dataset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46604" y="1554480"/>
            <a:ext cx="1961388" cy="1920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56332" y="1664208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56332" y="1664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656332" y="2084832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Adapt to new task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656332" y="2542032"/>
            <a:ext cx="17602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Fine-tune on a smaller, task-specific dataset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36008" y="1554480"/>
            <a:ext cx="1961388" cy="1920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45736" y="1664208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45736" y="1664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745736" y="2084832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Reuse knowledge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745736" y="2542032"/>
            <a:ext cx="17602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Lower layers (basic features) stay frozen; higher layers are modified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25412" y="1554480"/>
            <a:ext cx="1961388" cy="1920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35140" y="1664208"/>
            <a:ext cx="347472" cy="3474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35140" y="1664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835140" y="2084832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Faster, better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35140" y="2542032"/>
            <a:ext cx="17602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No need to learn fundamentals from scratch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3749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Benefits: less training time and compute  |  better accuracy on small data  |  overcomes data scarcity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Applications: ImageNet-trained vision models fine-tuned for X-ray diagnosis or cats vs dogs; language models adapted for sentiment analysis, translation and AI assistants.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Pretrained Models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1280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</a:rPr>
              <a:t>TRANSFER LEARNING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108960"/>
                <a:gridCol w="3474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Domain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Popular models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Tasks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</a:rPr>
                        <a:t>Computer vision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F3A"/>
                          </a:solidFill>
                        </a:rPr>
                        <a:t>VGG, ResNet, Inception, EfficientNet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F3A"/>
                          </a:solidFill>
                        </a:rPr>
                        <a:t>Classification, detection, segmentation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</a:rPr>
                        <a:t>NLP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F3A"/>
                          </a:solidFill>
                        </a:rPr>
                        <a:t>BERT, RoBERTa, GPT, T5, XLNet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F3A"/>
                          </a:solidFill>
                        </a:rPr>
                        <a:t>Classification, QA, summarisation, generation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</a:rPr>
                        <a:t>Speech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F3A"/>
                          </a:solidFill>
                        </a:rPr>
                        <a:t>Wav2Vec, DeepSpeech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F3A"/>
                          </a:solidFill>
                        </a:rPr>
                        <a:t>Speech recognition, voice synthesis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</a:rPr>
                        <a:t>Generative AI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F3A"/>
                          </a:solidFill>
                        </a:rPr>
                        <a:t>StyleGAN, BigGAN, Stable Diffusion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F3A"/>
                          </a:solidFill>
                        </a:rPr>
                        <a:t>Image generation, style transfer, super-resolution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ard How they are used"/>
          <p:cNvSpPr/>
          <p:nvPr/>
        </p:nvSpPr>
        <p:spPr>
          <a:xfrm>
            <a:off x="457200" y="3200400"/>
            <a:ext cx="4032504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3200400"/>
            <a:ext cx="64008" cy="14173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3291840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How they are used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611880"/>
            <a:ext cx="3739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Download weights (Hugging Face, TensorFlow Hub, PyTorch Hub)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Load the model, freeze or fine-tune layers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Train on your dataset to adapt it</a:t>
            </a:r>
            <a:endParaRPr lang="en-US" sz="1050" dirty="0"/>
          </a:p>
        </p:txBody>
      </p:sp>
      <p:sp>
        <p:nvSpPr>
          <p:cNvPr id="9" name="Card Advantages"/>
          <p:cNvSpPr/>
          <p:nvPr/>
        </p:nvSpPr>
        <p:spPr>
          <a:xfrm>
            <a:off x="4654296" y="3200400"/>
            <a:ext cx="4032504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54296" y="3200400"/>
            <a:ext cx="64008" cy="14173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37176" y="3291840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Advantages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4837176" y="3611880"/>
            <a:ext cx="3739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Faster convergence during training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Higher accuracy on small datasets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Access to large-scale learned knowledge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Training Vision Models: The Pipeline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1280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</a:rPr>
              <a:t>TRAINING VISION MODELS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Prepare a large labeled dataset, feed it to a neural network (CNN or Vision Transformer), and use backpropagation with an optimizer to adjust parameters for tasks such as image classification or object detection. Vision-language models train on images and text with contrastive or masked losses, then fine-tune.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1065929" cy="1097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07568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2075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496312"/>
            <a:ext cx="8647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Understand data needs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51145" y="1965960"/>
            <a:ext cx="1065929" cy="1097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60873" y="2075688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760873" y="2075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760873" y="2496312"/>
            <a:ext cx="8647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Select collection method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45090" y="1965960"/>
            <a:ext cx="1065929" cy="1097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54818" y="2075688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54818" y="2075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954818" y="2496312"/>
            <a:ext cx="8647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Prepare quality data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039035" y="1965960"/>
            <a:ext cx="1065929" cy="1097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48763" y="2075688"/>
            <a:ext cx="347472" cy="3474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48763" y="2075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148763" y="2496312"/>
            <a:ext cx="8647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Label data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32981" y="1965960"/>
            <a:ext cx="1065929" cy="1097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42709" y="2075688"/>
            <a:ext cx="347472" cy="347472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42709" y="2075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342709" y="2496312"/>
            <a:ext cx="8647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Augment data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26926" y="1965960"/>
            <a:ext cx="1065929" cy="1097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36654" y="2075688"/>
            <a:ext cx="347472" cy="34747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36654" y="2075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536654" y="2496312"/>
            <a:ext cx="8647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Validate and test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620871" y="1965960"/>
            <a:ext cx="1065929" cy="1097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30599" y="207568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30599" y="2075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730599" y="2496312"/>
            <a:ext cx="8647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Train and maintain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0080" y="3383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Monitor performance on a separate validation set to prevent overfitting; test on unseen data.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Key Steps and Training Objectives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1280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</a:rPr>
              <a:t>TRAINING VISION MODELS</a:t>
            </a:r>
            <a:endParaRPr lang="en-US" sz="800" dirty="0"/>
          </a:p>
        </p:txBody>
      </p:sp>
      <p:sp>
        <p:nvSpPr>
          <p:cNvPr id="4" name="Card Data collection &amp; annotation"/>
          <p:cNvSpPr/>
          <p:nvPr/>
        </p:nvSpPr>
        <p:spPr>
          <a:xfrm>
            <a:off x="457200" y="1051560"/>
            <a:ext cx="2633472" cy="1700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64008" cy="170078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4300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Data collection &amp; annotation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3040"/>
            <a:ext cx="234086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Gather large, diverse images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Annotate: bounding boxes, categories</a:t>
            </a:r>
            <a:endParaRPr lang="en-US" sz="1000" dirty="0"/>
          </a:p>
        </p:txBody>
      </p:sp>
      <p:sp>
        <p:nvSpPr>
          <p:cNvPr id="8" name="Card Model selection &amp; setup"/>
          <p:cNvSpPr/>
          <p:nvPr/>
        </p:nvSpPr>
        <p:spPr>
          <a:xfrm>
            <a:off x="3255264" y="1051560"/>
            <a:ext cx="2633472" cy="1700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55264" y="1051560"/>
            <a:ext cx="64008" cy="170078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38144" y="114300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Model selection &amp; setup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438144" y="1463040"/>
            <a:ext cx="234086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Choose CNN or Vision Transformer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Define the loss function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Choose the optimizer (backpropagation)</a:t>
            </a:r>
            <a:endParaRPr lang="en-US" sz="1000" dirty="0"/>
          </a:p>
        </p:txBody>
      </p:sp>
      <p:sp>
        <p:nvSpPr>
          <p:cNvPr id="12" name="Card Training &amp; evaluation"/>
          <p:cNvSpPr/>
          <p:nvPr/>
        </p:nvSpPr>
        <p:spPr>
          <a:xfrm>
            <a:off x="6053328" y="1051560"/>
            <a:ext cx="2633472" cy="1700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53328" y="1051560"/>
            <a:ext cx="64008" cy="170078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36208" y="114300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Training &amp; evaluation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236208" y="1463040"/>
            <a:ext cx="234086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Feed labeled data, reduce errors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Validate to avoid overfitting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Evaluate on unseen test data</a:t>
            </a:r>
            <a:endParaRPr lang="en-US" sz="1000" dirty="0"/>
          </a:p>
        </p:txBody>
      </p:sp>
      <p:sp>
        <p:nvSpPr>
          <p:cNvPr id="16" name="Card Supervised learning"/>
          <p:cNvSpPr/>
          <p:nvPr/>
        </p:nvSpPr>
        <p:spPr>
          <a:xfrm>
            <a:off x="457200" y="2916936"/>
            <a:ext cx="2633472" cy="1700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916936"/>
            <a:ext cx="64008" cy="170078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00837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Supervised learning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328416"/>
            <a:ext cx="234086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Train on labeled data to predict a specific output.</a:t>
            </a:r>
            <a:endParaRPr lang="en-US" sz="1000" dirty="0"/>
          </a:p>
        </p:txBody>
      </p:sp>
      <p:sp>
        <p:nvSpPr>
          <p:cNvPr id="20" name="Card Contrastive learning &amp; MIM"/>
          <p:cNvSpPr/>
          <p:nvPr/>
        </p:nvSpPr>
        <p:spPr>
          <a:xfrm>
            <a:off x="3255264" y="2916936"/>
            <a:ext cx="2633472" cy="1700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55264" y="2916936"/>
            <a:ext cx="64008" cy="1700784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38144" y="300837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Contrastive learning &amp; MIM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438144" y="3328416"/>
            <a:ext cx="234086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Contrastive: map images and text to similar representations. Masked image modeling: predict masked image parts, like LLM training.</a:t>
            </a:r>
            <a:endParaRPr lang="en-US" sz="1000" dirty="0"/>
          </a:p>
        </p:txBody>
      </p:sp>
      <p:sp>
        <p:nvSpPr>
          <p:cNvPr id="24" name="Card Fine-tuning"/>
          <p:cNvSpPr/>
          <p:nvPr/>
        </p:nvSpPr>
        <p:spPr>
          <a:xfrm>
            <a:off x="6053328" y="2916936"/>
            <a:ext cx="2633472" cy="1700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53328" y="2916936"/>
            <a:ext cx="64008" cy="1700784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36208" y="300837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Fine-tuning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236208" y="3328416"/>
            <a:ext cx="234086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Adapt a pre-trained model to a task with a new, smaller dataset; crucial for vision-language models.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Google Copilot: Duet AI for Workspace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1280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</a:rPr>
              <a:t>GOOGLE COPILOT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Generative AI "copilot" built into Docs, Sheets, Slides, Gmail and Meet; Duet AI for Developers adds code assistance in IDEs.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6126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What it does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</a:rPr>
                        <a:t>Drafting &amp; rewriting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Writes or rephrases emails, documents and proposals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</a:rPr>
                        <a:t>Summarisation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Summarises long documents; extracts key points from transcripts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</a:rPr>
                        <a:t>Spreadsheet help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Classifies data, generates formulas, assists analysis in Sheets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</a:rPr>
                        <a:t>Visual generation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Helps generate images for Slides ("Help me visualize")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</a:rPr>
                        <a:t>Meeting support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In Meet: captures notes, action items and summaries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Access, Strengths and Comparison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1280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</a:rPr>
              <a:t>GOOGLE COPILOT</a:t>
            </a:r>
            <a:endParaRPr lang="en-US" sz="800" dirty="0"/>
          </a:p>
        </p:txBody>
      </p:sp>
      <p:sp>
        <p:nvSpPr>
          <p:cNvPr id="4" name="Card Pricing &amp; access"/>
          <p:cNvSpPr/>
          <p:nvPr/>
        </p:nvSpPr>
        <p:spPr>
          <a:xfrm>
            <a:off x="457200" y="1051560"/>
            <a:ext cx="2633472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64008" cy="35661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4300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Pricing &amp; access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3040"/>
            <a:ext cx="23408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Generally available add-on to Workspace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About US $30 per user per month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Free trials often offered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Note: later branded Gemini for Workspace</a:t>
            </a:r>
            <a:endParaRPr lang="en-US" sz="1050" dirty="0"/>
          </a:p>
        </p:txBody>
      </p:sp>
      <p:sp>
        <p:nvSpPr>
          <p:cNvPr id="8" name="Card Strengths"/>
          <p:cNvSpPr/>
          <p:nvPr/>
        </p:nvSpPr>
        <p:spPr>
          <a:xfrm>
            <a:off x="3255264" y="1051560"/>
            <a:ext cx="2633472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55264" y="1051560"/>
            <a:ext cx="64008" cy="35661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38144" y="114300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Strengths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438144" y="1463040"/>
            <a:ext cx="23408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Seamless native integration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Context-aware: uses Drive, Gmail, Docs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Image generation in Slides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Developer support in IDEs</a:t>
            </a:r>
            <a:endParaRPr lang="en-US" sz="1050" dirty="0"/>
          </a:p>
        </p:txBody>
      </p:sp>
      <p:sp>
        <p:nvSpPr>
          <p:cNvPr id="12" name="Card Vs Microsoft 365 Copilot"/>
          <p:cNvSpPr/>
          <p:nvPr/>
        </p:nvSpPr>
        <p:spPr>
          <a:xfrm>
            <a:off x="6053328" y="1051560"/>
            <a:ext cx="2633472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53328" y="1051560"/>
            <a:ext cx="64008" cy="35661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36208" y="114300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Vs Microsoft 365 Copilot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236208" y="1463040"/>
            <a:ext cx="23408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Same goal: AI in docs, sheets, slides, email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Choice depends on your ecosystem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Alternatives: Sheet Copilot, Coefficient GPT Copilot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Programming LLMs: How They Help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1280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</a:rPr>
              <a:t>PROGRAMMING LLMS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Transformer-based LLMs trained on huge corpora of source code, docs and Q&amp;A to map intent to working code from natural-language prompts or partial code.</a:t>
            </a:r>
            <a:endParaRPr lang="en-US" sz="1200" dirty="0"/>
          </a:p>
        </p:txBody>
      </p:sp>
      <p:sp>
        <p:nvSpPr>
          <p:cNvPr id="5" name="Card Code generation"/>
          <p:cNvSpPr/>
          <p:nvPr/>
        </p:nvSpPr>
        <p:spPr>
          <a:xfrm>
            <a:off x="457200" y="1554480"/>
            <a:ext cx="2633472" cy="14493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64008" cy="144932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64592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Code generation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65960"/>
            <a:ext cx="2340864" cy="99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Produce code from natural-language descriptions.</a:t>
            </a:r>
            <a:endParaRPr lang="en-US" sz="1050" dirty="0"/>
          </a:p>
        </p:txBody>
      </p:sp>
      <p:sp>
        <p:nvSpPr>
          <p:cNvPr id="9" name="Card Code completion"/>
          <p:cNvSpPr/>
          <p:nvPr/>
        </p:nvSpPr>
        <p:spPr>
          <a:xfrm>
            <a:off x="3255264" y="1554480"/>
            <a:ext cx="2633472" cy="14493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55264" y="1554480"/>
            <a:ext cx="64008" cy="144932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38144" y="164592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Code completion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438144" y="1965960"/>
            <a:ext cx="2340864" cy="99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Predict next lines or names using left and right context.</a:t>
            </a:r>
            <a:endParaRPr lang="en-US" sz="1050" dirty="0"/>
          </a:p>
        </p:txBody>
      </p:sp>
      <p:sp>
        <p:nvSpPr>
          <p:cNvPr id="13" name="Card Explanation &amp; docs"/>
          <p:cNvSpPr/>
          <p:nvPr/>
        </p:nvSpPr>
        <p:spPr>
          <a:xfrm>
            <a:off x="6053328" y="1554480"/>
            <a:ext cx="2633472" cy="14493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53328" y="1554480"/>
            <a:ext cx="64008" cy="144932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36208" y="164592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Explanation &amp; docs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236208" y="1965960"/>
            <a:ext cx="2340864" cy="99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Explain code and write docstrings.</a:t>
            </a:r>
            <a:endParaRPr lang="en-US" sz="1050" dirty="0"/>
          </a:p>
        </p:txBody>
      </p:sp>
      <p:sp>
        <p:nvSpPr>
          <p:cNvPr id="17" name="Card Debugging &amp; repair"/>
          <p:cNvSpPr/>
          <p:nvPr/>
        </p:nvSpPr>
        <p:spPr>
          <a:xfrm>
            <a:off x="457200" y="3168396"/>
            <a:ext cx="2633472" cy="14493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168396"/>
            <a:ext cx="64008" cy="144932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25983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Debugging &amp; repair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579876"/>
            <a:ext cx="2340864" cy="99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Spot bugs and suggest fixes.</a:t>
            </a:r>
            <a:endParaRPr lang="en-US" sz="1050" dirty="0"/>
          </a:p>
        </p:txBody>
      </p:sp>
      <p:sp>
        <p:nvSpPr>
          <p:cNvPr id="21" name="Card Refactoring &amp; optimization"/>
          <p:cNvSpPr/>
          <p:nvPr/>
        </p:nvSpPr>
        <p:spPr>
          <a:xfrm>
            <a:off x="3255264" y="3168396"/>
            <a:ext cx="2633472" cy="14493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55264" y="3168396"/>
            <a:ext cx="64008" cy="1449324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38144" y="325983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Refactoring &amp; optimization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3438144" y="3579876"/>
            <a:ext cx="2340864" cy="99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Restructure code, suggest better algorithms.</a:t>
            </a:r>
            <a:endParaRPr lang="en-US" sz="1050" dirty="0"/>
          </a:p>
        </p:txBody>
      </p:sp>
      <p:sp>
        <p:nvSpPr>
          <p:cNvPr id="25" name="Card Testing"/>
          <p:cNvSpPr/>
          <p:nvPr/>
        </p:nvSpPr>
        <p:spPr>
          <a:xfrm>
            <a:off x="6053328" y="3168396"/>
            <a:ext cx="2633472" cy="14493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53328" y="3168396"/>
            <a:ext cx="64008" cy="1449324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36208" y="325983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Testing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236208" y="3579876"/>
            <a:ext cx="2340864" cy="99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Generate tests for source code.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Popular Models, Concepts and Tips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1280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</a:rPr>
              <a:t>PROGRAMMING LLMS</a:t>
            </a:r>
            <a:endParaRPr lang="en-US" sz="800" dirty="0"/>
          </a:p>
        </p:txBody>
      </p:sp>
      <p:sp>
        <p:nvSpPr>
          <p:cNvPr id="4" name="Card Popular models"/>
          <p:cNvSpPr/>
          <p:nvPr/>
        </p:nvSpPr>
        <p:spPr>
          <a:xfrm>
            <a:off x="457200" y="1051560"/>
            <a:ext cx="2633472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64008" cy="35661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4300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Popular models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3040"/>
            <a:ext cx="23408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General: ChatGPT, Gemini, Claude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Code-specific: Codestral, Code Llama, DeepSeek Coder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Open source: StarCoder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Research: Codex, AlphaCode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Assistants: GitHub Copilot, Tabnine, Amazon Q</a:t>
            </a:r>
            <a:endParaRPr lang="en-US" sz="1000" dirty="0"/>
          </a:p>
        </p:txBody>
      </p:sp>
      <p:sp>
        <p:nvSpPr>
          <p:cNvPr id="8" name="Card Key concepts"/>
          <p:cNvSpPr/>
          <p:nvPr/>
        </p:nvSpPr>
        <p:spPr>
          <a:xfrm>
            <a:off x="3255264" y="1051560"/>
            <a:ext cx="2633472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55264" y="1051560"/>
            <a:ext cx="64008" cy="35661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38144" y="114300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Key concepts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438144" y="1463040"/>
            <a:ext cx="23408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Generative AI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NLP for prompts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Deep learning and Transformers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Prompt engineering</a:t>
            </a:r>
            <a:endParaRPr lang="en-US" sz="1000" dirty="0"/>
          </a:p>
        </p:txBody>
      </p:sp>
      <p:sp>
        <p:nvSpPr>
          <p:cNvPr id="12" name="Card Tips"/>
          <p:cNvSpPr/>
          <p:nvPr/>
        </p:nvSpPr>
        <p:spPr>
          <a:xfrm>
            <a:off x="6053328" y="1051560"/>
            <a:ext cx="2633472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53328" y="1051560"/>
            <a:ext cx="64008" cy="35661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36208" y="114300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Tips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236208" y="1463040"/>
            <a:ext cx="23408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Use clear, specific prompts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Iterate in small steps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Always test generated code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Give left and right context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LangChain: Framework for LLM Applications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1280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</a:rPr>
              <a:t>LANGCHAIN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Open-source framework (Python and JavaScript) that simplifies building LLM applications. It offers a standard interface and end-to-end chains, connecting LLMs such as GPT-4 with external data and computation.</a:t>
            </a:r>
            <a:endParaRPr lang="en-US" sz="1300" dirty="0"/>
          </a:p>
        </p:txBody>
      </p:sp>
      <p:sp>
        <p:nvSpPr>
          <p:cNvPr id="5" name="Card Modular workflow"/>
          <p:cNvSpPr/>
          <p:nvPr/>
        </p:nvSpPr>
        <p:spPr>
          <a:xfrm>
            <a:off x="457200" y="2011680"/>
            <a:ext cx="2633472" cy="2377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1680"/>
            <a:ext cx="64008" cy="2377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10312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Modular workflow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23160"/>
            <a:ext cx="23408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Chain LLMs into reusable, efficient workflows.</a:t>
            </a:r>
            <a:endParaRPr lang="en-US" sz="1150" dirty="0"/>
          </a:p>
        </p:txBody>
      </p:sp>
      <p:sp>
        <p:nvSpPr>
          <p:cNvPr id="9" name="Card Prompt management"/>
          <p:cNvSpPr/>
          <p:nvPr/>
        </p:nvSpPr>
        <p:spPr>
          <a:xfrm>
            <a:off x="3255264" y="2011680"/>
            <a:ext cx="2633472" cy="2377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55264" y="2011680"/>
            <a:ext cx="64008" cy="23774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38144" y="210312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Prompt management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438144" y="2423160"/>
            <a:ext cx="23408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Tools for prompt engineering and memory handling.</a:t>
            </a:r>
            <a:endParaRPr lang="en-US" sz="1150" dirty="0"/>
          </a:p>
        </p:txBody>
      </p:sp>
      <p:sp>
        <p:nvSpPr>
          <p:cNvPr id="13" name="Card Ease of integration"/>
          <p:cNvSpPr/>
          <p:nvPr/>
        </p:nvSpPr>
        <p:spPr>
          <a:xfrm>
            <a:off x="6053328" y="2011680"/>
            <a:ext cx="2633472" cy="2377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53328" y="2011680"/>
            <a:ext cx="64008" cy="23774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36208" y="210312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Ease of integration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236208" y="2423160"/>
            <a:ext cx="23408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Streamlines building LLM-powered apps.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Key Components of LangChain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1280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</a:rPr>
              <a:t>LANGCHAIN</a:t>
            </a:r>
            <a:endParaRPr lang="en-US" sz="800" dirty="0"/>
          </a:p>
        </p:txBody>
      </p:sp>
      <p:sp>
        <p:nvSpPr>
          <p:cNvPr id="4" name="Card Chains"/>
          <p:cNvSpPr/>
          <p:nvPr/>
        </p:nvSpPr>
        <p:spPr>
          <a:xfrm>
            <a:off x="457200" y="1051560"/>
            <a:ext cx="2633472" cy="1700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64008" cy="170078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4300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Chains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3040"/>
            <a:ext cx="234086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Sequences of actions. Simple chains: one LLM call. Multi-step chains: each step uses the previous output.</a:t>
            </a:r>
            <a:endParaRPr lang="en-US" sz="1000" dirty="0"/>
          </a:p>
        </p:txBody>
      </p:sp>
      <p:sp>
        <p:nvSpPr>
          <p:cNvPr id="8" name="Card Prompt management"/>
          <p:cNvSpPr/>
          <p:nvPr/>
        </p:nvSpPr>
        <p:spPr>
          <a:xfrm>
            <a:off x="3255264" y="1051560"/>
            <a:ext cx="2633472" cy="1700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55264" y="1051560"/>
            <a:ext cx="64008" cy="170078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38144" y="114300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Prompt management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438144" y="1463040"/>
            <a:ext cx="234086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PromptTemplates format inputs, handle dynamic variables and control LLM behavior.</a:t>
            </a:r>
            <a:endParaRPr lang="en-US" sz="1000" dirty="0"/>
          </a:p>
        </p:txBody>
      </p:sp>
      <p:sp>
        <p:nvSpPr>
          <p:cNvPr id="12" name="Card Agents"/>
          <p:cNvSpPr/>
          <p:nvPr/>
        </p:nvSpPr>
        <p:spPr>
          <a:xfrm>
            <a:off x="6053328" y="1051560"/>
            <a:ext cx="2633472" cy="1700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53328" y="1051560"/>
            <a:ext cx="64008" cy="170078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36208" y="114300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Agents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236208" y="1463040"/>
            <a:ext cx="234086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Autonomous systems that call APIs or query databases and decide actions using an LLM.</a:t>
            </a:r>
            <a:endParaRPr lang="en-US" sz="1000" dirty="0"/>
          </a:p>
        </p:txBody>
      </p:sp>
      <p:sp>
        <p:nvSpPr>
          <p:cNvPr id="16" name="Card Vector databases"/>
          <p:cNvSpPr/>
          <p:nvPr/>
        </p:nvSpPr>
        <p:spPr>
          <a:xfrm>
            <a:off x="457200" y="2916936"/>
            <a:ext cx="2633472" cy="1700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916936"/>
            <a:ext cx="64008" cy="170078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00837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Vector databases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328416"/>
            <a:ext cx="234086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Store and search embeddings for similarity search: document retrieval, knowledge bases.</a:t>
            </a:r>
            <a:endParaRPr lang="en-US" sz="1000" dirty="0"/>
          </a:p>
        </p:txBody>
      </p:sp>
      <p:sp>
        <p:nvSpPr>
          <p:cNvPr id="20" name="Card Models"/>
          <p:cNvSpPr/>
          <p:nvPr/>
        </p:nvSpPr>
        <p:spPr>
          <a:xfrm>
            <a:off x="3255264" y="2916936"/>
            <a:ext cx="2633472" cy="1700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55264" y="2916936"/>
            <a:ext cx="64008" cy="1700784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38144" y="300837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Models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438144" y="3328416"/>
            <a:ext cx="234086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Model-agnostic: OpenAI GPT, Hugging Face models, DeepSeek R1 and more.</a:t>
            </a:r>
            <a:endParaRPr lang="en-US" sz="1000" dirty="0"/>
          </a:p>
        </p:txBody>
      </p:sp>
      <p:sp>
        <p:nvSpPr>
          <p:cNvPr id="24" name="Card Memory management"/>
          <p:cNvSpPr/>
          <p:nvPr/>
        </p:nvSpPr>
        <p:spPr>
          <a:xfrm>
            <a:off x="6053328" y="2916936"/>
            <a:ext cx="2633472" cy="1700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53328" y="2916936"/>
            <a:ext cx="64008" cy="1700784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36208" y="300837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Memory management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236208" y="3328416"/>
            <a:ext cx="234086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Remembers earlier interactions for context in conversational agents.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How LangChain Works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1280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</a:rPr>
              <a:t>LANGCHAIN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961388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16128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161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581912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User query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039112"/>
            <a:ext cx="17602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User submits a question, e.g. "What is a neural network?"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46604" y="1051560"/>
            <a:ext cx="1961388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56332" y="1161288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56332" y="1161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656332" y="1581912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Embedding &amp; search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656332" y="2039112"/>
            <a:ext cx="17602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Query becomes a vector; similarity search in the vector database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36008" y="1051560"/>
            <a:ext cx="1961388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45736" y="1161288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45736" y="1161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745736" y="1581912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Fetch context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745736" y="2039112"/>
            <a:ext cx="17602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Most relevant chunks retrieved and ranked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25412" y="1051560"/>
            <a:ext cx="1961388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35140" y="1161288"/>
            <a:ext cx="347472" cy="3474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35140" y="1161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835140" y="1581912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Generate response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835140" y="2039112"/>
            <a:ext cx="17602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LLM uses retrieved context to answer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tx1"/>
                </a:solidFill>
              </a:rPr>
              <a:t>Pipeline: PDFs &gt; text chunks &gt; embeddings &gt; vector store &gt; semantic search &gt; ranked results &gt; LLM &gt; answer</a:t>
            </a:r>
            <a:endParaRPr lang="en-US" sz="1050" dirty="0"/>
          </a:p>
        </p:txBody>
      </p:sp>
      <p:sp>
        <p:nvSpPr>
          <p:cNvPr id="25" name="Card Chatbots &amp; assistants"/>
          <p:cNvSpPr/>
          <p:nvPr/>
        </p:nvSpPr>
        <p:spPr>
          <a:xfrm>
            <a:off x="457200" y="3337560"/>
            <a:ext cx="1933956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337560"/>
            <a:ext cx="64008" cy="12801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" y="3429000"/>
            <a:ext cx="1659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Chatbots &amp; assistants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3749040"/>
            <a:ext cx="16413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Memory + APIs for context-aware chat</a:t>
            </a:r>
            <a:endParaRPr lang="en-US" sz="950" dirty="0"/>
          </a:p>
        </p:txBody>
      </p:sp>
      <p:sp>
        <p:nvSpPr>
          <p:cNvPr id="29" name="Card Document Q&amp;A"/>
          <p:cNvSpPr/>
          <p:nvPr/>
        </p:nvSpPr>
        <p:spPr>
          <a:xfrm>
            <a:off x="2555748" y="3337560"/>
            <a:ext cx="1933956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55748" y="3337560"/>
            <a:ext cx="64008" cy="12801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738628" y="3429000"/>
            <a:ext cx="1659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Document Q&amp;A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2738628" y="3749040"/>
            <a:ext cx="16413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Query PDFs, papers, contracts</a:t>
            </a:r>
            <a:endParaRPr lang="en-US" sz="950" dirty="0"/>
          </a:p>
        </p:txBody>
      </p:sp>
      <p:sp>
        <p:nvSpPr>
          <p:cNvPr id="33" name="Card Knowledge management"/>
          <p:cNvSpPr/>
          <p:nvPr/>
        </p:nvSpPr>
        <p:spPr>
          <a:xfrm>
            <a:off x="4654296" y="3337560"/>
            <a:ext cx="1933956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54296" y="3337560"/>
            <a:ext cx="64008" cy="12801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37176" y="3429000"/>
            <a:ext cx="1659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Knowledge management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4837176" y="3749040"/>
            <a:ext cx="16413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Search and summarise company data</a:t>
            </a:r>
            <a:endParaRPr lang="en-US" sz="950" dirty="0"/>
          </a:p>
        </p:txBody>
      </p:sp>
      <p:sp>
        <p:nvSpPr>
          <p:cNvPr id="37" name="Card Workflow automation"/>
          <p:cNvSpPr/>
          <p:nvPr/>
        </p:nvSpPr>
        <p:spPr>
          <a:xfrm>
            <a:off x="6752844" y="3337560"/>
            <a:ext cx="1933956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52844" y="3337560"/>
            <a:ext cx="64008" cy="128016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935724" y="3429000"/>
            <a:ext cx="1659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Workflow automation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6935724" y="3749040"/>
            <a:ext cx="16413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Ticket resolution, reports, CRM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Open-Source Generative Models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1280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</a:rPr>
              <a:t>OPEN SOURCE MODELS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Publicly accessible code, architecture and weights: more transparency, customization and control than proprietary models, with community-driven improvements and audits.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645920"/>
                <a:gridCol w="51206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Developer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Highlights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</a:rPr>
                        <a:t>Llama 3.1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Meta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Multilingual LLMs in 8B, 70B and 405B sizes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</a:rPr>
                        <a:t>Mistral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Mistral AI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Mistral 7B for low-power hardware; 8x22B; customizable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</a:rPr>
                        <a:t>Gemma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Google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Open models on Vertex AI, customizable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</a:rPr>
                        <a:t>BLOOM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BigScience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176B-parameter multilingual autoregressive transformer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</a:rPr>
                        <a:t>GPT-2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OpenAI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Earlier model, still notable for coherent text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Benefits of Open-Source Generative AI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1280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</a:rPr>
              <a:t>OPEN SOURCE MODELS</a:t>
            </a:r>
            <a:endParaRPr lang="en-US" sz="800" dirty="0"/>
          </a:p>
        </p:txBody>
      </p:sp>
      <p:sp>
        <p:nvSpPr>
          <p:cNvPr id="4" name="Card Transparency &amp; flexibility"/>
          <p:cNvSpPr/>
          <p:nvPr/>
        </p:nvSpPr>
        <p:spPr>
          <a:xfrm>
            <a:off x="457200" y="1051560"/>
            <a:ext cx="4032504" cy="1700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64008" cy="170078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43000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Transparency &amp; flexibility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3040"/>
            <a:ext cx="37398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Access to code and architecture enables deep understanding and customization.</a:t>
            </a:r>
            <a:endParaRPr lang="en-US" sz="1200" dirty="0"/>
          </a:p>
        </p:txBody>
      </p:sp>
      <p:sp>
        <p:nvSpPr>
          <p:cNvPr id="8" name="Card Cost-effectiveness"/>
          <p:cNvSpPr/>
          <p:nvPr/>
        </p:nvSpPr>
        <p:spPr>
          <a:xfrm>
            <a:off x="4654296" y="1051560"/>
            <a:ext cx="4032504" cy="1700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54296" y="1051560"/>
            <a:ext cx="64008" cy="170078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37176" y="1143000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Cost-effectiveness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837176" y="1463040"/>
            <a:ext cx="37398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Little or no licensing cost; advanced AI for more users.</a:t>
            </a:r>
            <a:endParaRPr lang="en-US" sz="1200" dirty="0"/>
          </a:p>
        </p:txBody>
      </p:sp>
      <p:sp>
        <p:nvSpPr>
          <p:cNvPr id="12" name="Card Control over data"/>
          <p:cNvSpPr/>
          <p:nvPr/>
        </p:nvSpPr>
        <p:spPr>
          <a:xfrm>
            <a:off x="457200" y="2916936"/>
            <a:ext cx="4032504" cy="1700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916936"/>
            <a:ext cx="64008" cy="170078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008376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Control over data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328416"/>
            <a:ext cx="37398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Run on-premises to keep sensitive data in-house and meet regulations.</a:t>
            </a:r>
            <a:endParaRPr lang="en-US" sz="1200" dirty="0"/>
          </a:p>
        </p:txBody>
      </p:sp>
      <p:sp>
        <p:nvSpPr>
          <p:cNvPr id="16" name="Card No vendor lock-in"/>
          <p:cNvSpPr/>
          <p:nvPr/>
        </p:nvSpPr>
        <p:spPr>
          <a:xfrm>
            <a:off x="4654296" y="2916936"/>
            <a:ext cx="4032504" cy="1700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54296" y="2916936"/>
            <a:ext cx="64008" cy="170078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37176" y="3008376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No vendor lock-in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837176" y="3328416"/>
            <a:ext cx="37398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Less reliance on one provider; freedom over the AI stack.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Llama: Meta's Open Foundation Models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1280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</a:rPr>
              <a:t>LLAMA</a:t>
            </a:r>
            <a:endParaRPr lang="en-US" sz="800" dirty="0"/>
          </a:p>
        </p:txBody>
      </p:sp>
      <p:sp>
        <p:nvSpPr>
          <p:cNvPr id="4" name="Card What it is"/>
          <p:cNvSpPr/>
          <p:nvPr/>
        </p:nvSpPr>
        <p:spPr>
          <a:xfrm>
            <a:off x="457200" y="1051560"/>
            <a:ext cx="2633472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64008" cy="35661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4300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What it is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3040"/>
            <a:ext cx="23408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Large Language Model Meta AI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Foundation models for text: understand language, write code, summarise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Weights and architecture are public, unlike GPT-4 and Gemini</a:t>
            </a:r>
            <a:endParaRPr lang="en-US" sz="1000" dirty="0"/>
          </a:p>
        </p:txBody>
      </p:sp>
      <p:sp>
        <p:nvSpPr>
          <p:cNvPr id="8" name="Card Why open matters"/>
          <p:cNvSpPr/>
          <p:nvPr/>
        </p:nvSpPr>
        <p:spPr>
          <a:xfrm>
            <a:off x="3255264" y="1051560"/>
            <a:ext cx="2633472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55264" y="1051560"/>
            <a:ext cx="64008" cy="35661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38144" y="114300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Why open matters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438144" y="1463040"/>
            <a:ext cx="23408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Fine-tuning for custom apps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Private on-premise deployment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Cost-efficient experiments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Community innovation</a:t>
            </a:r>
            <a:endParaRPr lang="en-US" sz="1000" dirty="0"/>
          </a:p>
        </p:txBody>
      </p:sp>
      <p:sp>
        <p:nvSpPr>
          <p:cNvPr id="12" name="Card Technical highlights"/>
          <p:cNvSpPr/>
          <p:nvPr/>
        </p:nvSpPr>
        <p:spPr>
          <a:xfrm>
            <a:off x="6053328" y="1051560"/>
            <a:ext cx="2633472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53328" y="1051560"/>
            <a:ext cx="64008" cy="35661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36208" y="114300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Technical highlights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236208" y="1463040"/>
            <a:ext cx="23408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Transformer-based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Trained on public text + filtered web data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Llama 2 and 3 at or above GPT-3.5; 3-70B near GPT-4 on many benchmarks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4k to 8k token context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Meta community license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Llama in the Generative AI Ecosystem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1280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</a:rPr>
              <a:t>LLAMA</a:t>
            </a:r>
            <a:endParaRPr lang="en-US" sz="800" dirty="0"/>
          </a:p>
        </p:txBody>
      </p:sp>
      <p:sp>
        <p:nvSpPr>
          <p:cNvPr id="4" name="Card Text generation"/>
          <p:cNvSpPr/>
          <p:nvPr/>
        </p:nvSpPr>
        <p:spPr>
          <a:xfrm>
            <a:off x="457200" y="1051560"/>
            <a:ext cx="2633472" cy="1700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64008" cy="170078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4300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Text generation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3040"/>
            <a:ext cx="234086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Chatbots, assistants, writing aids; Llama-2/3-Chat rival GPT-3.5+.</a:t>
            </a:r>
            <a:endParaRPr lang="en-US" sz="1000" dirty="0"/>
          </a:p>
        </p:txBody>
      </p:sp>
      <p:sp>
        <p:nvSpPr>
          <p:cNvPr id="8" name="Card Code generation"/>
          <p:cNvSpPr/>
          <p:nvPr/>
        </p:nvSpPr>
        <p:spPr>
          <a:xfrm>
            <a:off x="3255264" y="1051560"/>
            <a:ext cx="2633472" cy="1700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55264" y="1051560"/>
            <a:ext cx="64008" cy="170078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38144" y="114300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Code generation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438144" y="1463040"/>
            <a:ext cx="234086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Code Llama, trained on billions of lines (Python, C++, Java) for completion and debugging.</a:t>
            </a:r>
            <a:endParaRPr lang="en-US" sz="1000" dirty="0"/>
          </a:p>
        </p:txBody>
      </p:sp>
      <p:sp>
        <p:nvSpPr>
          <p:cNvPr id="12" name="Card Knowledge QA (RAG)"/>
          <p:cNvSpPr/>
          <p:nvPr/>
        </p:nvSpPr>
        <p:spPr>
          <a:xfrm>
            <a:off x="6053328" y="1051560"/>
            <a:ext cx="2633472" cy="1700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53328" y="1051560"/>
            <a:ext cx="64008" cy="170078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36208" y="114300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Knowledge QA (RAG)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236208" y="1463040"/>
            <a:ext cx="234086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Answer questions over private data.</a:t>
            </a:r>
            <a:endParaRPr lang="en-US" sz="1000" dirty="0"/>
          </a:p>
        </p:txBody>
      </p:sp>
      <p:sp>
        <p:nvSpPr>
          <p:cNvPr id="16" name="Card Creative writing"/>
          <p:cNvSpPr/>
          <p:nvPr/>
        </p:nvSpPr>
        <p:spPr>
          <a:xfrm>
            <a:off x="457200" y="2916936"/>
            <a:ext cx="2633472" cy="1700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916936"/>
            <a:ext cx="64008" cy="170078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00837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Creative writing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328416"/>
            <a:ext cx="234086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Stories, summaries, reports, brainstorming.</a:t>
            </a:r>
            <a:endParaRPr lang="en-US" sz="1000" dirty="0"/>
          </a:p>
        </p:txBody>
      </p:sp>
      <p:sp>
        <p:nvSpPr>
          <p:cNvPr id="20" name="Card Derived projects"/>
          <p:cNvSpPr/>
          <p:nvPr/>
        </p:nvSpPr>
        <p:spPr>
          <a:xfrm>
            <a:off x="3255264" y="2916936"/>
            <a:ext cx="2633472" cy="1700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55264" y="2916936"/>
            <a:ext cx="64008" cy="1700784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38144" y="300837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Derived projects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438144" y="3328416"/>
            <a:ext cx="234086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Alpaca (Stanford, instruction data), Vicuna (ChatGPT dialogues), OpenChat / Mistral merges.</a:t>
            </a:r>
            <a:endParaRPr lang="en-US" sz="1000" dirty="0"/>
          </a:p>
        </p:txBody>
      </p:sp>
      <p:sp>
        <p:nvSpPr>
          <p:cNvPr id="24" name="Card Tooling"/>
          <p:cNvSpPr/>
          <p:nvPr/>
        </p:nvSpPr>
        <p:spPr>
          <a:xfrm>
            <a:off x="6053328" y="2916936"/>
            <a:ext cx="2633472" cy="1700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53328" y="2916936"/>
            <a:ext cx="64008" cy="1700784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36208" y="300837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Tooling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236208" y="3328416"/>
            <a:ext cx="234086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Ollama and LM Studio for local runs; Hugging Face Transformers for checkpoints and tokenizers.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TimeSformer: Two Ways to Program It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1280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</a:rPr>
              <a:t>PROGRAMMING FOR TIMESFORMER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Video classification with PyTorch: data preparation, model loading, fine-tuning or inference, and adapting the architecture to your task.</a:t>
            </a:r>
            <a:endParaRPr lang="en-US" sz="1200" dirty="0"/>
          </a:p>
        </p:txBody>
      </p:sp>
      <p:sp>
        <p:nvSpPr>
          <p:cNvPr id="5" name="Card Hugging Face transformers (recommended)"/>
          <p:cNvSpPr/>
          <p:nvPr/>
        </p:nvSpPr>
        <p:spPr>
          <a:xfrm>
            <a:off x="457200" y="1554480"/>
            <a:ext cx="4032504" cy="3063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64008" cy="30632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645920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Hugging Face transformers (recommended)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65960"/>
            <a:ext cx="373989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pip install transformers torch numpy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Use TimesformerForVideoClassification and its processor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Load facebook/timesformer-base-finetuned-ssv2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Processor preprocesses; from_pretrained downloads weights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model.config.id2label maps output index to label</a:t>
            </a:r>
            <a:endParaRPr lang="en-US" sz="1050" dirty="0"/>
          </a:p>
        </p:txBody>
      </p:sp>
      <p:sp>
        <p:nvSpPr>
          <p:cNvPr id="9" name="Card Original Facebook AI repo (advanced)"/>
          <p:cNvSpPr/>
          <p:nvPr/>
        </p:nvSpPr>
        <p:spPr>
          <a:xfrm>
            <a:off x="4654296" y="1554480"/>
            <a:ext cx="4032504" cy="3063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54296" y="1554480"/>
            <a:ext cx="64008" cy="30632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37176" y="1645920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Original Facebook AI repo (advanced)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837176" y="1965960"/>
            <a:ext cx="373989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git clone facebookresearch/TimeSformer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python setup.py build develop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Instantiate with image size, frames, attention type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Load a .pyth checkpoint, feed a video tensor, get logits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Core TimeSformer Concepts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1280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</a:rPr>
              <a:t>PROGRAMMING FOR TIMESFORMER</a:t>
            </a:r>
            <a:endParaRPr lang="en-US" sz="800" dirty="0"/>
          </a:p>
        </p:txBody>
      </p:sp>
      <p:sp>
        <p:nvSpPr>
          <p:cNvPr id="4" name="Card Video representation"/>
          <p:cNvSpPr/>
          <p:nvPr/>
        </p:nvSpPr>
        <p:spPr>
          <a:xfrm>
            <a:off x="457200" y="1051560"/>
            <a:ext cx="4032504" cy="1700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64008" cy="170078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43000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Video representation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3040"/>
            <a:ext cx="37398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 video of size H x W x 3 x F is split into spatiotemporal P x P patches.</a:t>
            </a:r>
            <a:endParaRPr lang="en-US" sz="1150" dirty="0"/>
          </a:p>
        </p:txBody>
      </p:sp>
      <p:sp>
        <p:nvSpPr>
          <p:cNvPr id="8" name="Card Positional encoding"/>
          <p:cNvSpPr/>
          <p:nvPr/>
        </p:nvSpPr>
        <p:spPr>
          <a:xfrm>
            <a:off x="4654296" y="1051560"/>
            <a:ext cx="4032504" cy="1700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54296" y="1051560"/>
            <a:ext cx="64008" cy="170078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37176" y="1143000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Positional encoding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837176" y="1463040"/>
            <a:ext cx="37398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Learnable embeddings keep spatiotemporal order.</a:t>
            </a:r>
            <a:endParaRPr lang="en-US" sz="1150" dirty="0"/>
          </a:p>
        </p:txBody>
      </p:sp>
      <p:sp>
        <p:nvSpPr>
          <p:cNvPr id="12" name="Card Divided space-time attention"/>
          <p:cNvSpPr/>
          <p:nvPr/>
        </p:nvSpPr>
        <p:spPr>
          <a:xfrm>
            <a:off x="457200" y="2916936"/>
            <a:ext cx="4032504" cy="1700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916936"/>
            <a:ext cx="64008" cy="170078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008376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Divided space-time attention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328416"/>
            <a:ext cx="37398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Self-attention is factorized: temporal (across frames, same patch) then spatial (patches in one frame).</a:t>
            </a:r>
            <a:endParaRPr lang="en-US" sz="1150" dirty="0"/>
          </a:p>
        </p:txBody>
      </p:sp>
      <p:sp>
        <p:nvSpPr>
          <p:cNvPr id="16" name="Card Classification"/>
          <p:cNvSpPr/>
          <p:nvPr/>
        </p:nvSpPr>
        <p:spPr>
          <a:xfrm>
            <a:off x="4654296" y="2916936"/>
            <a:ext cx="4032504" cy="1700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54296" y="2916936"/>
            <a:ext cx="64008" cy="170078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37176" y="3008376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Classification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837176" y="3328416"/>
            <a:ext cx="37398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 [CLS] token gathers information from all patches; a linear layer outputs class scores.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Inference with Hugging Face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1280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</a:rPr>
              <a:t>PROGRAMMING FOR TIMESFORMER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8229600" cy="283464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2540" tIns="2540" rIns="2540" bIns="254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transformers import AutoImageProcessor, TimesformerForVideoClassification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np, torch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 = list(np.random.randn(8, 3, 224, 224))   # dummy 8-frame clip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"facebook/timesformer-base-finetuned-ssv2"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processor = AutoImageProcessor.from_pretrained(name)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TimesformerForVideoClassification.from_pretrained(name)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inputs = processor(video, return_tensors="pt")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torch.no_grad():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logits = model(**inputs).logits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print(model.config.id2label[logits.argmax(-1).item()])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chemeClr val="tx1"/>
                </a:solidFill>
              </a:rPr>
              <a:t>Dummy video, processor, pretrained model, inference, then map the predicted index to a label.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Deploying Generative AI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1280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</a:rPr>
              <a:t>DEPLOYMENT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Integrating generative models into applications so end-users or other systems can use them. It goes beyond running a model: MLOps, version control and CI/CD.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543507" cy="2103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80136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801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221992"/>
            <a:ext cx="13423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Consume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679192"/>
            <a:ext cx="1342339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Gen AI added in apps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28723" y="1691640"/>
            <a:ext cx="1543507" cy="2103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38451" y="1801368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38451" y="1801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238451" y="2221992"/>
            <a:ext cx="13423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Embed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238451" y="2679192"/>
            <a:ext cx="1342339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Gen AI APIs in a custom app frame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00246" y="1691640"/>
            <a:ext cx="1543507" cy="2103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09974" y="1801368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09974" y="1801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909974" y="2221992"/>
            <a:ext cx="13423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Extend: retrieval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909974" y="2679192"/>
            <a:ext cx="1342339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Models via data retrieval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71770" y="1691640"/>
            <a:ext cx="1543507" cy="2103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81498" y="1801368"/>
            <a:ext cx="347472" cy="3474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81498" y="1801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581498" y="2221992"/>
            <a:ext cx="13423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Extend: fine-tuning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581498" y="2679192"/>
            <a:ext cx="1342339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Models via fine-tuning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143293" y="1691640"/>
            <a:ext cx="1543507" cy="2103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53021" y="1801368"/>
            <a:ext cx="347472" cy="347472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253021" y="1801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253021" y="2221992"/>
            <a:ext cx="13423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Build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253021" y="2679192"/>
            <a:ext cx="1342339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Custom models from scratch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tx1"/>
                </a:solidFill>
              </a:rPr>
              <a:t>Five deployment approaches (Gartner generative AI pilot cycle)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Key Components of a Deployment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1280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</a:rPr>
              <a:t>DEPLOYMENT</a:t>
            </a:r>
            <a:endParaRPr lang="en-US" sz="800" dirty="0"/>
          </a:p>
        </p:txBody>
      </p:sp>
      <p:sp>
        <p:nvSpPr>
          <p:cNvPr id="4" name="Card Foundation models"/>
          <p:cNvSpPr/>
          <p:nvPr/>
        </p:nvSpPr>
        <p:spPr>
          <a:xfrm>
            <a:off x="457200" y="1051560"/>
            <a:ext cx="4032504" cy="1700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64008" cy="170078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43000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Foundation models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3040"/>
            <a:ext cx="37398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Pre-trained LLMs (Gemini, Llama) via managed API or custom endpoint; most organisations reuse them.</a:t>
            </a:r>
            <a:endParaRPr lang="en-US" sz="1150" dirty="0"/>
          </a:p>
        </p:txBody>
      </p:sp>
      <p:sp>
        <p:nvSpPr>
          <p:cNvPr id="8" name="Card Prompt management"/>
          <p:cNvSpPr/>
          <p:nvPr/>
        </p:nvSpPr>
        <p:spPr>
          <a:xfrm>
            <a:off x="4654296" y="1051560"/>
            <a:ext cx="4032504" cy="1700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54296" y="1051560"/>
            <a:ext cx="64008" cy="170078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37176" y="1143000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Prompt management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837176" y="1463040"/>
            <a:ext cx="37398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Prompt templates managed as versioned, governed artifacts.</a:t>
            </a:r>
            <a:endParaRPr lang="en-US" sz="1150" dirty="0"/>
          </a:p>
        </p:txBody>
      </p:sp>
      <p:sp>
        <p:nvSpPr>
          <p:cNvPr id="12" name="Card Chaining &amp; augmentation"/>
          <p:cNvSpPr/>
          <p:nvPr/>
        </p:nvSpPr>
        <p:spPr>
          <a:xfrm>
            <a:off x="457200" y="2916936"/>
            <a:ext cx="4032504" cy="1700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916936"/>
            <a:ext cx="64008" cy="170078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008376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Chaining &amp; augmentation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328416"/>
            <a:ext cx="37398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Multiple models and tools in a workflow; RAG grounds answers in enterprise data and reduces hallucinations.</a:t>
            </a:r>
            <a:endParaRPr lang="en-US" sz="1150" dirty="0"/>
          </a:p>
        </p:txBody>
      </p:sp>
      <p:sp>
        <p:nvSpPr>
          <p:cNvPr id="16" name="Card Tuned models"/>
          <p:cNvSpPr/>
          <p:nvPr/>
        </p:nvSpPr>
        <p:spPr>
          <a:xfrm>
            <a:off x="4654296" y="2916936"/>
            <a:ext cx="4032504" cy="1700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54296" y="2916936"/>
            <a:ext cx="64008" cy="170078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37176" y="3008376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Tuned models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837176" y="3328416"/>
            <a:ext cx="37398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Fine-tuned adapters or weights shipped as deployment artifacts.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Deployment Lifecycle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1280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</a:rPr>
              <a:t>DEPLOYMENT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543507" cy="3108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0700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207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627632"/>
            <a:ext cx="13423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Define &amp; select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084832"/>
            <a:ext cx="1342339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Set business goals; pick a model by quality, cost, latency, compliance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28723" y="1097280"/>
            <a:ext cx="1543507" cy="3108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38451" y="1207008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38451" y="1207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38451" y="1627632"/>
            <a:ext cx="13423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Develop &amp; tune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238451" y="2084832"/>
            <a:ext cx="1342339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Prompt engineering, evaluation, fine-tuning or RAG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00246" y="1097280"/>
            <a:ext cx="1543507" cy="3108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09974" y="1207008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09974" y="1207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909974" y="1627632"/>
            <a:ext cx="13423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Test &amp; validate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909974" y="2084832"/>
            <a:ext cx="1342339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Check performance, accuracy, security, edge cases, bias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71770" y="1097280"/>
            <a:ext cx="1543507" cy="3108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81498" y="1207008"/>
            <a:ext cx="347472" cy="3474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581498" y="1207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581498" y="1627632"/>
            <a:ext cx="13423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CI/CD &amp; versioning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581498" y="2084832"/>
            <a:ext cx="1342339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Version prompts and models; Docker and Kubernetes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143293" y="1097280"/>
            <a:ext cx="1543507" cy="3108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53021" y="1207008"/>
            <a:ext cx="347472" cy="347472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53021" y="1207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253021" y="1627632"/>
            <a:ext cx="13423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Deploy &amp; monitor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253021" y="2084832"/>
            <a:ext cx="1342339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REST API endpoint, scalable infra; watch drift, cost, feedback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Deployment Challenges and Mitigations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1280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</a:rPr>
              <a:t>DEPLOYMENT</a:t>
            </a:r>
            <a:endParaRPr lang="en-US" sz="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Challenge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</a:rPr>
                        <a:t>High computational costs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Cloud services; optimise models for efficient inference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</a:rPr>
                        <a:t>Data privacy &amp; security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Governance, encryption, privacy-preserving techniques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</a:rPr>
                        <a:t>Reliability &amp; hallucinations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Ground outputs in trusted sources; human oversight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</a:rPr>
                        <a:t>Integration complexity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Modular architectures and standardised APIs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</a:rPr>
                        <a:t>Ethical &amp; bias concerns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Diverse datasets and ethical guidelines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Hugging Face: The Hub for Generative AI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1280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</a:rPr>
              <a:t>HUGGING FACE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central collaborative platform to access, share, fine-tune and integrate pre-trained models, with open-source libraries and tools for building and deploying generative applications.</a:t>
            </a:r>
            <a:endParaRPr lang="en-US" sz="1200" dirty="0"/>
          </a:p>
        </p:txBody>
      </p:sp>
      <p:sp>
        <p:nvSpPr>
          <p:cNvPr id="5" name="Card Model Hub"/>
          <p:cNvSpPr/>
          <p:nvPr/>
        </p:nvSpPr>
        <p:spPr>
          <a:xfrm>
            <a:off x="457200" y="1645920"/>
            <a:ext cx="2633472" cy="140360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64008" cy="140360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73736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Model Hub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57400"/>
            <a:ext cx="2340864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Open models such as Stable Diffusion and many LLMs.</a:t>
            </a:r>
            <a:endParaRPr lang="en-US" sz="1000" dirty="0"/>
          </a:p>
        </p:txBody>
      </p:sp>
      <p:sp>
        <p:nvSpPr>
          <p:cNvPr id="9" name="Card Libraries"/>
          <p:cNvSpPr/>
          <p:nvPr/>
        </p:nvSpPr>
        <p:spPr>
          <a:xfrm>
            <a:off x="3255264" y="1645920"/>
            <a:ext cx="2633472" cy="140360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55264" y="1645920"/>
            <a:ext cx="64008" cy="140360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38144" y="173736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Libraries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438144" y="2057400"/>
            <a:ext cx="2340864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Transformers and Diffusers simplify downloading, using, fine-tuning.</a:t>
            </a:r>
            <a:endParaRPr lang="en-US" sz="1000" dirty="0"/>
          </a:p>
        </p:txBody>
      </p:sp>
      <p:sp>
        <p:nvSpPr>
          <p:cNvPr id="13" name="Card Spaces"/>
          <p:cNvSpPr/>
          <p:nvPr/>
        </p:nvSpPr>
        <p:spPr>
          <a:xfrm>
            <a:off x="6053328" y="1645920"/>
            <a:ext cx="2633472" cy="140360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53328" y="1645920"/>
            <a:ext cx="64008" cy="140360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36208" y="173736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Spaces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236208" y="2057400"/>
            <a:ext cx="2340864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Build, host and share demo apps.</a:t>
            </a:r>
            <a:endParaRPr lang="en-US" sz="1000" dirty="0"/>
          </a:p>
        </p:txBody>
      </p:sp>
      <p:sp>
        <p:nvSpPr>
          <p:cNvPr id="17" name="Card Easy deployment"/>
          <p:cNvSpPr/>
          <p:nvPr/>
        </p:nvSpPr>
        <p:spPr>
          <a:xfrm>
            <a:off x="457200" y="3214116"/>
            <a:ext cx="2633472" cy="140360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214116"/>
            <a:ext cx="64008" cy="140360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30555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Easy deployment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625596"/>
            <a:ext cx="2340864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APIs, Spaces and Inference Endpoints; Google Vertex AI integration.</a:t>
            </a:r>
            <a:endParaRPr lang="en-US" sz="1000" dirty="0"/>
          </a:p>
        </p:txBody>
      </p:sp>
      <p:sp>
        <p:nvSpPr>
          <p:cNvPr id="21" name="Card Cross-modal"/>
          <p:cNvSpPr/>
          <p:nvPr/>
        </p:nvSpPr>
        <p:spPr>
          <a:xfrm>
            <a:off x="3255264" y="3214116"/>
            <a:ext cx="2633472" cy="140360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55264" y="3214116"/>
            <a:ext cx="64008" cy="1403604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38144" y="330555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Cross-modal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3438144" y="3625596"/>
            <a:ext cx="2340864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Text, code, images, audio in one ecosystem.</a:t>
            </a:r>
            <a:endParaRPr lang="en-US" sz="1000" dirty="0"/>
          </a:p>
        </p:txBody>
      </p:sp>
      <p:sp>
        <p:nvSpPr>
          <p:cNvPr id="25" name="Card Community"/>
          <p:cNvSpPr/>
          <p:nvPr/>
        </p:nvSpPr>
        <p:spPr>
          <a:xfrm>
            <a:off x="6053328" y="3214116"/>
            <a:ext cx="2633472" cy="140360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53328" y="3214116"/>
            <a:ext cx="64008" cy="1403604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36208" y="330555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Community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236208" y="3625596"/>
            <a:ext cx="2340864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Thousands of models, tutorials, contributors; democratises GenAI.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Generative Applications on Hugging Face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1280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</a:rPr>
              <a:t>HUGGING FACE</a:t>
            </a:r>
            <a:endParaRPr lang="en-US" sz="8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474720"/>
                <a:gridCol w="27432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Application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Examples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Models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</a:rPr>
                        <a:t>Text generation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3A"/>
                          </a:solidFill>
                        </a:rPr>
                        <a:t>Chatbots, story writing, summarisation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3A"/>
                          </a:solidFill>
                        </a:rPr>
                        <a:t>GPT, LLaMA, Falcon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</a:rPr>
                        <a:t>Code generation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3A"/>
                          </a:solidFill>
                        </a:rPr>
                        <a:t>AI programming assistants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3A"/>
                          </a:solidFill>
                        </a:rPr>
                        <a:t>Code Llama, StarCoder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</a:rPr>
                        <a:t>Image generation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3A"/>
                          </a:solidFill>
                        </a:rPr>
                        <a:t>Art, design, concept generation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3A"/>
                          </a:solidFill>
                        </a:rPr>
                        <a:t>Stable Diffusion, SDXL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</a:rPr>
                        <a:t>Audio &amp; music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3A"/>
                          </a:solidFill>
                        </a:rPr>
                        <a:t>Music and speech synthesis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3A"/>
                          </a:solidFill>
                        </a:rPr>
                        <a:t>MusicGen, Bark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</a:rPr>
                        <a:t>Video &amp; multimodal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3A"/>
                          </a:solidFill>
                        </a:rPr>
                        <a:t>Video understanding or generation pipelines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3A"/>
                          </a:solidFill>
                        </a:rPr>
                        <a:t>TimeSformer, multimodal models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Key Takeaways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1280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</a:rPr>
              <a:t>SUMMARY</a:t>
            </a:r>
            <a:endParaRPr lang="en-US" sz="800" dirty="0"/>
          </a:p>
        </p:txBody>
      </p:sp>
      <p:sp>
        <p:nvSpPr>
          <p:cNvPr id="4" name="Card Pre-train, then fine-tune"/>
          <p:cNvSpPr/>
          <p:nvPr/>
        </p:nvSpPr>
        <p:spPr>
          <a:xfrm>
            <a:off x="457200" y="1051560"/>
            <a:ext cx="1933956" cy="1700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64008" cy="170078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43000"/>
            <a:ext cx="1659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Pre-train, then fine-tune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3040"/>
            <a:ext cx="164134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Foundation first, specialise with small data</a:t>
            </a:r>
            <a:endParaRPr lang="en-US" sz="1000" dirty="0"/>
          </a:p>
        </p:txBody>
      </p:sp>
      <p:sp>
        <p:nvSpPr>
          <p:cNvPr id="8" name="Card Transfer learning"/>
          <p:cNvSpPr/>
          <p:nvPr/>
        </p:nvSpPr>
        <p:spPr>
          <a:xfrm>
            <a:off x="2555748" y="1051560"/>
            <a:ext cx="1933956" cy="1700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55748" y="1051560"/>
            <a:ext cx="64008" cy="170078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38628" y="1143000"/>
            <a:ext cx="1659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Transfer learning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738628" y="1463040"/>
            <a:ext cx="164134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Reuse pretrained knowledge, freeze lower layers</a:t>
            </a:r>
            <a:endParaRPr lang="en-US" sz="1000" dirty="0"/>
          </a:p>
        </p:txBody>
      </p:sp>
      <p:sp>
        <p:nvSpPr>
          <p:cNvPr id="12" name="Card Local LLMs"/>
          <p:cNvSpPr/>
          <p:nvPr/>
        </p:nvSpPr>
        <p:spPr>
          <a:xfrm>
            <a:off x="4654296" y="1051560"/>
            <a:ext cx="1933956" cy="1700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54296" y="1051560"/>
            <a:ext cx="64008" cy="170078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37176" y="1143000"/>
            <a:ext cx="1659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Local LLMs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837176" y="1463040"/>
            <a:ext cx="164134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GPT4All and Llama: private, customizable</a:t>
            </a:r>
            <a:endParaRPr lang="en-US" sz="1000" dirty="0"/>
          </a:p>
        </p:txBody>
      </p:sp>
      <p:sp>
        <p:nvSpPr>
          <p:cNvPr id="16" name="Card Vision models"/>
          <p:cNvSpPr/>
          <p:nvPr/>
        </p:nvSpPr>
        <p:spPr>
          <a:xfrm>
            <a:off x="6752844" y="1051560"/>
            <a:ext cx="1933956" cy="1700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52844" y="1051560"/>
            <a:ext cx="64008" cy="170078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35724" y="1143000"/>
            <a:ext cx="1659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Vision models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935724" y="1463040"/>
            <a:ext cx="164134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Labeled data, CNN or ViT, validate</a:t>
            </a:r>
            <a:endParaRPr lang="en-US" sz="1000" dirty="0"/>
          </a:p>
        </p:txBody>
      </p:sp>
      <p:sp>
        <p:nvSpPr>
          <p:cNvPr id="20" name="Card Programming LLMs"/>
          <p:cNvSpPr/>
          <p:nvPr/>
        </p:nvSpPr>
        <p:spPr>
          <a:xfrm>
            <a:off x="457200" y="2916936"/>
            <a:ext cx="1933956" cy="1700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916936"/>
            <a:ext cx="64008" cy="1700784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008376"/>
            <a:ext cx="1659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Programming LLMs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328416"/>
            <a:ext cx="164134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Generate, complete, debug, refactor</a:t>
            </a:r>
            <a:endParaRPr lang="en-US" sz="1000" dirty="0"/>
          </a:p>
        </p:txBody>
      </p:sp>
      <p:sp>
        <p:nvSpPr>
          <p:cNvPr id="24" name="Card LangChain"/>
          <p:cNvSpPr/>
          <p:nvPr/>
        </p:nvSpPr>
        <p:spPr>
          <a:xfrm>
            <a:off x="2555748" y="2916936"/>
            <a:ext cx="1933956" cy="1700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5748" y="2916936"/>
            <a:ext cx="64008" cy="1700784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738628" y="3008376"/>
            <a:ext cx="1659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LangChain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2738628" y="3328416"/>
            <a:ext cx="164134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Chains, prompts, agents, vectors, memory</a:t>
            </a:r>
            <a:endParaRPr lang="en-US" sz="1000" dirty="0"/>
          </a:p>
        </p:txBody>
      </p:sp>
      <p:sp>
        <p:nvSpPr>
          <p:cNvPr id="28" name="Card TimeSformer"/>
          <p:cNvSpPr/>
          <p:nvPr/>
        </p:nvSpPr>
        <p:spPr>
          <a:xfrm>
            <a:off x="4654296" y="2916936"/>
            <a:ext cx="1933956" cy="1700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54296" y="2916936"/>
            <a:ext cx="64008" cy="170078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37176" y="3008376"/>
            <a:ext cx="1659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TimeSformer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837176" y="3328416"/>
            <a:ext cx="164134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Divided space-time attention for video</a:t>
            </a:r>
            <a:endParaRPr lang="en-US" sz="1000" dirty="0"/>
          </a:p>
        </p:txBody>
      </p:sp>
      <p:sp>
        <p:nvSpPr>
          <p:cNvPr id="32" name="Card Deploy &amp; share"/>
          <p:cNvSpPr/>
          <p:nvPr/>
        </p:nvSpPr>
        <p:spPr>
          <a:xfrm>
            <a:off x="6752844" y="2916936"/>
            <a:ext cx="1933956" cy="1700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52844" y="2916936"/>
            <a:ext cx="64008" cy="170078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935724" y="3008376"/>
            <a:ext cx="1659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Deploy &amp; share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6935724" y="3328416"/>
            <a:ext cx="164134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MLOps, RAG, monitoring; Hugging Face hub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nAI Unit V">
  <a:themeElements>
    <a:clrScheme name="GenAI Unit V">
      <a:dk1>
        <a:srgbClr val="0B1F3A"/>
      </a:dk1>
      <a:lt1>
        <a:srgbClr val="FFFFFF"/>
      </a:lt1>
      <a:dk2>
        <a:srgbClr val="1E3A5F"/>
      </a:dk2>
      <a:lt2>
        <a:srgbClr val="F1F5F9"/>
      </a:lt2>
      <a:accent1>
        <a:srgbClr val="F28C28"/>
      </a:accent1>
      <a:accent2>
        <a:srgbClr val="5E9E2F"/>
      </a:accent2>
      <a:accent3>
        <a:srgbClr val="0F8B8D"/>
      </a:accent3>
      <a:accent4>
        <a:srgbClr val="7B3FA0"/>
      </a:accent4>
      <a:accent5>
        <a:srgbClr val="D64045"/>
      </a:accent5>
      <a:accent6>
        <a:srgbClr val="2D6FBA"/>
      </a:accent6>
      <a:hlink>
        <a:srgbClr val="2D6FBA"/>
      </a:hlink>
      <a:folHlink>
        <a:srgbClr val="7B3FA0"/>
      </a:folHlink>
    </a:clrScheme>
    <a:fontScheme name="GenAI Unit V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Generative AI - Unit V: Open Source Models</dc:title>
  <dc:subject>PptxGenJS Presentation</dc:subject>
  <dc:creator>Mr. M. Balaji</dc:creator>
  <cp:lastModifiedBy>Mr. M. Balaji</cp:lastModifiedBy>
  <cp:revision>1</cp:revision>
  <dcterms:created xsi:type="dcterms:W3CDTF">2026-10-26T19:37:30Z</dcterms:created>
  <dcterms:modified xsi:type="dcterms:W3CDTF">2026-10-26T19:37:30Z</dcterms:modified>
</cp:coreProperties>
</file>